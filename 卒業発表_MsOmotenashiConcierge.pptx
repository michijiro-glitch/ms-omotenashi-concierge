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表紙。すぐスライド2へ。</a:t>
            </a:r>
          </a:p>
          <a:p>
            <a:r>
              <a:t>結論：グルメアプリではなく、自分の目利きで選んだ経験を、検索できる知識に変えた。AIは後から付けるために、先に構造化した。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クライアントとの会食が決まって、店を選ぶ。手土産も選ぶ。</a:t>
            </a:r>
          </a:p>
          <a:p>
            <a:r>
              <a:t>いつも一緒に仕事をしている代理店やベンダーと、気の置けない会食。大人数だけど、どこにする？</a:t>
            </a:r>
          </a:p>
          <a:p>
            <a:r>
              <a:t>苦手な食材がある人もいる。お土産は、いつもワンパターンの菓子折り。でも、センスを見せたい。</a:t>
            </a:r>
          </a:p>
          <a:p>
            <a:r>
              <a:t>昇格のお祝いには、花。センスの良いものにしたい。</a:t>
            </a:r>
          </a:p>
          <a:p/>
          <a:p>
            <a:r>
              <a:t>心の中では、「喜んでもらえるかな」。そして、「センスのいいひとだと思われたい」。</a:t>
            </a:r>
          </a:p>
          <a:p>
            <a:r>
              <a:t>お店選びも、ギフトの品選びも、その人を表すものだと、思っています。</a:t>
            </a:r>
          </a:p>
          <a:p>
            <a:r>
              <a:t>判断基準は、頭の中にはあった。でも、その場で思い出すしかなかったんです。</a:t>
            </a:r>
          </a:p>
          <a:p/>
          <a:p>
            <a:r>
              <a:t>結論：グルメアプリではなく、自分の目利きで選んだ経験を、検索できる知識に変えた。AIは後から付けるために、先に構造化した。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公開は、見る・探すだけ。直すのは自分用。最初は Google フォーム、いまは非公開の画面から入力します。アプリで直しても、シートに残る。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口コミの量ではなく、私自身の選択眼を残す、パーソナル・コンシェルジュです。</a:t>
            </a:r>
          </a:p>
          <a:p>
            <a:r>
              <a:t>出版社の現場で培った目利き。「美味しいだけでなく、その場にちょうどいい」。「誰が、どんな基準で選ぶか」。それを置くのが、About M です。</a:t>
            </a:r>
          </a:p>
          <a:p>
            <a:r>
              <a:t>デモでも、このページを開きます。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Visit は実際に訪問、Wishlist は行ってみたい。Choice は特集で、ステータスではありません。</a:t>
            </a:r>
          </a:p>
          <a:p>
            <a:r>
              <a:t>見た目も、AI で作りました。かわいい、女性向けに寄りすぎる案も出た。男性にも使ってほしいので、上質・知的・ニュートラルへ寄せた。</a:t>
            </a:r>
          </a:p>
          <a:p>
            <a:r>
              <a:t>デザインに使ったのは Cursor。検索の AI API は、まだ繋いでいません。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やり方は、単純です。暗黙知を、検索できる項目にする。</a:t>
            </a:r>
          </a:p>
          <a:p>
            <a:r>
              <a:t>いまの音声は、入力です。「恵比寿 和食」はできる。「恵比寿で和食が食べたい」の意味理解は、これから。</a:t>
            </a:r>
          </a:p>
          <a:p>
            <a:r>
              <a:t>世の中の店を AI に聞くのではありません。私の登録データを、再利用する。そのために、先に構造化した。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いちばん見てほしいのは、ここです。</a:t>
            </a:r>
          </a:p>
          <a:p>
            <a:r>
              <a:t>トップ。About M。誰が選ぶかを、ページで見ます。</a:t>
            </a:r>
          </a:p>
          <a:p>
            <a:r>
              <a:t>Restaurant。音声で、単語を入れる。結果。1店舗を見る。</a:t>
            </a:r>
          </a:p>
          <a:p>
            <a:r>
              <a:t>Gift は操作しません。以上が、いま動いているものです。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いまは、条件検索と音声検索。無料で利用者とデータを増やす。予約・購入へ送客する土台。</a:t>
            </a:r>
          </a:p>
          <a:p>
            <a:r>
              <a:t>次は、自然文を AI が解釈して、条件に変え、M の登録データから返す。M's Choice。詳しく読むのは note、探す・比較するのはこのアプリ、予約・購入は外。</a:t>
            </a:r>
          </a:p>
          <a:p>
            <a:r>
              <a:t>将来は、個別コンシェルジュと、法人の会食・贈答ナレッジ。この相手ならこの店、この場面ならこの手土産。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資産は、UI やコードではありません。経験、選定データ、蓄積された知識です。</a:t>
            </a:r>
          </a:p>
          <a:p>
            <a:r>
              <a:t>自分のための備忘録が、シートとアプリを経て、個人の暗黙知を再利用可能な知識に変わる。その先に、法人のナレッジがある。</a:t>
            </a:r>
          </a:p>
          <a:p/>
          <a:p>
            <a:r>
              <a:t>ADSのチームgraceの皆様、半年間ご一緒させていただきありがとうございました。これからも学びを続けていきたいと思います。</a:t>
            </a:r>
          </a:p>
          <a:p>
            <a:r>
              <a:t>是非見ていただいて、お気づきの点やアイデアなどいただけましたら嬉しいです。マコなり社長ともぜひコラボしたいです。よろしくお願いします。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ADS 卒業制作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51560"/>
            <a:ext cx="2743200" cy="19878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37760" y="278892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273812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243056"/>
                </a:solidFill>
                <a:latin typeface="Yu Mincho"/>
                <a:ea typeface="Yu Mincho"/>
              </a:rPr>
              <a:t>出版社の現場で培った目利きで選ぶ、</a:t>
            </a:r>
          </a:p>
          <a:p>
            <a:pPr algn="ctr">
              <a:spcAft>
                <a:spcPts val="0"/>
              </a:spcAft>
            </a:pPr>
            <a:r>
              <a:rPr sz="2000" b="0">
                <a:solidFill>
                  <a:srgbClr val="243056"/>
                </a:solidFill>
                <a:latin typeface="Yu Mincho"/>
                <a:ea typeface="Yu Mincho"/>
              </a:rPr>
              <a:t>レストランとギフトのパーソナルガイド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60520"/>
            <a:ext cx="9235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E4E"/>
                </a:solidFill>
                <a:latin typeface="Yu Gothic"/>
                <a:ea typeface="Yu Gothic"/>
              </a:rPr>
              <a:t>頭の中の経験を、再利用できる知識にする。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5E4E"/>
                </a:solidFill>
                <a:latin typeface="Yu Gothic"/>
                <a:ea typeface="Yu Gothic"/>
              </a:rPr>
              <a:t>口コミサイトではなく、M自身の選択眼を残すパーソナル・コンシェルジュ。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広告営業出身。エンジニアではない。実装は Cursor。主役は、何を知識として残すかという設計。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なぜ作ったか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思い出すだけでなく、呼び出せる形に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5156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100076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243056"/>
                </a:solidFill>
                <a:latin typeface="Yu Mincho"/>
                <a:ea typeface="Yu Mincho"/>
              </a:rPr>
              <a:t>「喜んでもらえるかな」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243056"/>
                </a:solidFill>
                <a:latin typeface="Yu Mincho"/>
                <a:ea typeface="Yu Mincho"/>
              </a:rPr>
              <a:t>「センスのいいひとだと思われたい」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34056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会食の店選び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063240"/>
            <a:ext cx="322783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クライアントの会食。気の置けない代理店やベンダーとの大人数。「どこにする？」。苦手な食材がある人もいる。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060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734056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手土産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063240"/>
            <a:ext cx="322783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いつもワンパターンの菓子折り。センスを見せたい。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060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734056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お祝いの花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063240"/>
            <a:ext cx="322783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昇格のお祝いなど。センスの良いものにしたい。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43056"/>
                </a:solidFill>
                <a:latin typeface="Yu Mincho"/>
                <a:ea typeface="Yu Mincho"/>
              </a:rPr>
              <a:t>お店選びも、ギフトの品選びも、その人を表す。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5E4E"/>
                </a:solidFill>
                <a:latin typeface="Yu Gothic"/>
                <a:ea typeface="Yu Gothic"/>
              </a:rPr>
              <a:t>判断基準は頭の中にあった。でも、その場で思い出すしかなかった。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作ったもの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見る・探すは公開。直すのは自分用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96012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90932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2175" y="1078992"/>
            <a:ext cx="41605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verify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075" y="1115568"/>
            <a:ext cx="39827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35327" y="3675888"/>
            <a:ext cx="4014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Yu Gothic"/>
                <a:ea typeface="Yu Gothic"/>
              </a:rPr>
              <a:t>公開｜トップ　Restaurant / Gift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078992"/>
            <a:ext cx="41605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_verify-restaur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899" y="1115568"/>
            <a:ext cx="398272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2151" y="3675888"/>
            <a:ext cx="4014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Yu Gothic"/>
                <a:ea typeface="Yu Gothic"/>
              </a:rPr>
              <a:t>公開｜Restaurant　条件・単語・音声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62175" y="4023360"/>
            <a:ext cx="41605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bout-visit-wish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751" y="4233100"/>
            <a:ext cx="4087368" cy="22139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35327" y="6620256"/>
            <a:ext cx="4014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Yu Gothic"/>
                <a:ea typeface="Yu Gothic"/>
              </a:rPr>
              <a:t>公開｜Visit / Wishlist　店舗ステータス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4023360"/>
            <a:ext cx="416052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_verify-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587" y="4059936"/>
            <a:ext cx="3641344" cy="2560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42151" y="6620256"/>
            <a:ext cx="4014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Yu Gothic"/>
                <a:ea typeface="Yu Gothic"/>
              </a:rPr>
              <a:t>入力｜非公開 /edit　フォームから移した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作ったもの｜About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誰が、どんな基準で選ぶか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5156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100076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1280160"/>
            <a:ext cx="8686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out-page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53" y="1316736"/>
            <a:ext cx="6541414" cy="4599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10512" y="5916168"/>
            <a:ext cx="8540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Yu Gothic"/>
                <a:ea typeface="Yu Gothic"/>
              </a:rPr>
              <a:t>公開｜About M　会食・ワイン・贈答。「美味しいだけでなく、その場にちょうどいい」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作ったもの｜設計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役割を分けて、目利きを価値にした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5156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100076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99616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Visit / Wishlist と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28800"/>
            <a:ext cx="505663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Visit＝実際に訪問。Wishlist＝行ってみたい。店舗のステータス。Choiceは特集で、ステータスではない。例：個室で接待、グラスでワイン、日持ちする手土産。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99616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About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828800"/>
            <a:ext cx="505663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口コミの量では勝負しない。「誰が、どんな経験と基準で選ぶか」。出版社の広告営業で数多くの会食＋ワイン・贈答。「美味しいだけでなく、その場にちょうどいい」。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877055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入力を非公開アプリへ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206239"/>
            <a:ext cx="505663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当初は Google フォーム。いまは非公開の /edit から入力・修正。来客向けから登録・直すを外した。アプリで直しても、シートに残る。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877055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デザイン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4206239"/>
            <a:ext cx="505663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見た目は AI（Cursor）で作った。かわいい案から、上質・知的・ニュートラルへ。アイボリー／ネイビー／控えめなゴールド。店を探す AI API とは別。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開発で工夫したこと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経験を、検索できる項目にした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5156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100076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1481328"/>
            <a:ext cx="384048" cy="384048"/>
          </a:xfrm>
          <a:prstGeom prst="ellipse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179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43056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経験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5E4E"/>
                </a:solidFill>
                <a:latin typeface="Yu Gothic"/>
                <a:ea typeface="Yu Gothic"/>
              </a:rPr>
              <a:t>頭の中の相談と選定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4A36A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1880" y="1481328"/>
            <a:ext cx="384048" cy="384048"/>
          </a:xfrm>
          <a:prstGeom prst="ellipse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5179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43056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965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構造化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317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5E4E"/>
                </a:solidFill>
                <a:latin typeface="Yu Gothic"/>
                <a:ea typeface="Yu Gothic"/>
              </a:rPr>
              <a:t>呼び出せる項目にする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4A36A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37160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481328"/>
            <a:ext cx="384048" cy="384048"/>
          </a:xfrm>
          <a:prstGeom prst="ellipse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5179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43056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965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登録・更新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3317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5E4E"/>
                </a:solidFill>
                <a:latin typeface="Yu Gothic"/>
                <a:ea typeface="Yu Gothic"/>
              </a:rPr>
              <a:t>シートが正本。/edit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4A36A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37160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20" y="1481328"/>
            <a:ext cx="384048" cy="384048"/>
          </a:xfrm>
          <a:prstGeom prst="ellipse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5179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43056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965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3317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5E4E"/>
                </a:solidFill>
                <a:latin typeface="Yu Gothic"/>
                <a:ea typeface="Yu Gothic"/>
              </a:rPr>
              <a:t>条件と単語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C4A36A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59" y="137160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1481328"/>
            <a:ext cx="384048" cy="384048"/>
          </a:xfrm>
          <a:prstGeom prst="ellipse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39" y="15179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43056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965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音声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23317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5E4E"/>
                </a:solidFill>
                <a:latin typeface="Yu Gothic"/>
                <a:ea typeface="Yu Gothic"/>
              </a:rPr>
              <a:t>入力。AIは未接続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566160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3694176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いま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023360"/>
            <a:ext cx="50566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条件・フリーワード・Web Speech の日本語音声。「恵比寿 和食」のような単語・条件はできる。文の意味理解は、まだしない。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566160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694176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これから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023360"/>
            <a:ext cx="50566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「恵比寿で和食が食べたい」をAIが解釈 → 条件へ変換 → M自身の登録データから返す。世の中の店を聞かない。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43056"/>
                </a:solidFill>
                <a:latin typeface="Yu Mincho"/>
                <a:ea typeface="Yu Mincho"/>
              </a:rPr>
              <a:t>AIを付けることから始めたのではない。先に、自分の経験を構造化した。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デモ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ここから、実演します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60604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255524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243056"/>
                </a:solidFill>
                <a:latin typeface="Yu Mincho"/>
                <a:ea typeface="Yu Mincho"/>
              </a:rPr>
              <a:t>トップ　→　About M　→　Restaurant　→　音声検索　→　1店舗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B5E4E"/>
                </a:solidFill>
                <a:latin typeface="Yu Gothic"/>
                <a:ea typeface="Yu Gothic"/>
              </a:rPr>
              <a:t>Gift は操作しない。見た目のAIと、店を探すAIは分ける。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今後の計画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検索から、知識へ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5156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100076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408176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現在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737360"/>
            <a:ext cx="336499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・条件検索・音声検索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・無料で利用者とデータを増やす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・予約・購入へ送客する土台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408176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1737360"/>
            <a:ext cx="336499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・AI自然文検索・登録支援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・M's Choice 特集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・noteで読む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・アプリで探す・比較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・予約／ECへつなぐ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408176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056"/>
                </a:solidFill>
                <a:latin typeface="Yu Mincho"/>
                <a:ea typeface="Yu Mincho"/>
              </a:rPr>
              <a:t>将来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737360"/>
            <a:ext cx="336499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・個別コンシェルジュ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・法人の会食・贈答ナレッジ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・この相手ならこの店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Yu Gothic"/>
                <a:ea typeface="Yu Gothic"/>
              </a:rPr>
              <a:t>・この場面ならこの手土産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B5E4E"/>
                </a:solidFill>
                <a:latin typeface="Yu Gothic"/>
                <a:ea typeface="Yu Gothic"/>
              </a:rPr>
              <a:t>経験 → 構造化 → 検索 → 音声 → 公開 → AI → 個人 → 法人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4A36A"/>
                </a:solidFill>
                <a:latin typeface="Yu Gothic"/>
                <a:ea typeface="Yu Gothic"/>
              </a:rP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43056"/>
                </a:solidFill>
                <a:latin typeface="Yu Mincho"/>
                <a:ea typeface="Yu Mincho"/>
              </a:rPr>
              <a:t>備忘録から、知識へ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51560"/>
            <a:ext cx="2286000" cy="15240"/>
          </a:xfrm>
          <a:prstGeom prst="rect">
            <a:avLst/>
          </a:prstGeom>
          <a:solidFill>
            <a:srgbClr val="C4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43600" y="1000760"/>
            <a:ext cx="127000" cy="127000"/>
          </a:xfrm>
          <a:prstGeom prst="diamond">
            <a:avLst/>
          </a:prstGeom>
          <a:solidFill>
            <a:srgbClr val="FBF8F2"/>
          </a:solidFill>
          <a:ln w="12700">
            <a:solidFill>
              <a:srgbClr val="C4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1600" b="0">
                <a:solidFill>
                  <a:srgbClr val="6B5E4E"/>
                </a:solidFill>
                <a:latin typeface="Yu Gothic"/>
                <a:ea typeface="Yu Gothic"/>
              </a:rPr>
              <a:t>資産はUIやコードではなく、経験・選定データ・蓄積された知識。</a:t>
            </a:r>
          </a:p>
          <a:p>
            <a:pPr algn="ctr">
              <a:spcAft>
                <a:spcPts val="2000"/>
              </a:spcAft>
            </a:pPr>
            <a:r>
              <a:rPr sz="2000" b="0">
                <a:solidFill>
                  <a:srgbClr val="243056"/>
                </a:solidFill>
                <a:latin typeface="Yu Mincho"/>
                <a:ea typeface="Yu Mincho"/>
              </a:rPr>
              <a:t>自分のための備忘録　→　シートとアプリ　→　暗黙知を再利用可能な知識へ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43056"/>
                </a:solidFill>
                <a:latin typeface="Yu Gothic"/>
                <a:ea typeface="Yu Gothic"/>
              </a:rPr>
              <a:t>ADSのチームgraceの皆様、半年間ご一緒させていただきありがとうございました。</a:t>
            </a:r>
          </a:p>
          <a:p>
            <a:pPr algn="ctr">
              <a:spcAft>
                <a:spcPts val="1600"/>
              </a:spcAft>
            </a:pPr>
            <a:r>
              <a:rPr sz="1500" b="0">
                <a:solidFill>
                  <a:srgbClr val="243056"/>
                </a:solidFill>
                <a:latin typeface="Yu Gothic"/>
                <a:ea typeface="Yu Gothic"/>
              </a:rPr>
              <a:t>これからも学びを続けていきたいと思います。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243056"/>
                </a:solidFill>
                <a:latin typeface="Yu Gothic"/>
                <a:ea typeface="Yu Gothic"/>
              </a:rPr>
              <a:t>是非見ていただいて、お気づきの点やアイデアなどいただけましたら嬉しいです。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243056"/>
                </a:solidFill>
                <a:latin typeface="Yu Gothic"/>
                <a:ea typeface="Yu Gothic"/>
              </a:rPr>
              <a:t>マコなり社長ともぜひコラボしたいです。よろしくお願いします。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